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4" r:id="rId13"/>
    <p:sldId id="270" r:id="rId14"/>
    <p:sldId id="271" r:id="rId15"/>
    <p:sldId id="272" r:id="rId16"/>
    <p:sldId id="264" r:id="rId17"/>
    <p:sldId id="273" r:id="rId18"/>
    <p:sldId id="265" r:id="rId19"/>
    <p:sldId id="266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457199"/>
                </a:moveTo>
                <a:lnTo>
                  <a:pt x="0" y="4571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457199"/>
                </a:lnTo>
                <a:close/>
              </a:path>
            </a:pathLst>
          </a:custGeom>
          <a:solidFill>
            <a:srgbClr val="BD5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4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65999"/>
                </a:moveTo>
                <a:lnTo>
                  <a:pt x="0" y="659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65999"/>
                </a:lnTo>
                <a:close/>
              </a:path>
            </a:pathLst>
          </a:custGeom>
          <a:solidFill>
            <a:srgbClr val="E38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5149" y="1737844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952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684" y="945536"/>
            <a:ext cx="426910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658" y="1850158"/>
            <a:ext cx="7800975" cy="2499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3136" y="1630620"/>
            <a:ext cx="6133465" cy="124587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 indent="85725">
              <a:lnSpc>
                <a:spcPts val="4430"/>
              </a:lnSpc>
              <a:spcBef>
                <a:spcPts val="875"/>
              </a:spcBef>
            </a:pPr>
            <a:r>
              <a:rPr sz="4300" dirty="0"/>
              <a:t>Pothole</a:t>
            </a:r>
            <a:r>
              <a:rPr sz="4300" spc="-50" dirty="0"/>
              <a:t> </a:t>
            </a:r>
            <a:r>
              <a:rPr sz="4300" dirty="0"/>
              <a:t>and</a:t>
            </a:r>
            <a:r>
              <a:rPr sz="4300" spc="-35" dirty="0"/>
              <a:t> </a:t>
            </a:r>
            <a:r>
              <a:rPr sz="4300" dirty="0"/>
              <a:t>Speed</a:t>
            </a:r>
            <a:r>
              <a:rPr sz="4300" spc="-35" dirty="0"/>
              <a:t> </a:t>
            </a:r>
            <a:r>
              <a:rPr sz="4300" spc="-10" dirty="0"/>
              <a:t>Breaker </a:t>
            </a:r>
            <a:r>
              <a:rPr sz="4300" dirty="0"/>
              <a:t>Detection</a:t>
            </a:r>
            <a:r>
              <a:rPr sz="4300" spc="-45" dirty="0"/>
              <a:t> </a:t>
            </a:r>
            <a:r>
              <a:rPr sz="4300" dirty="0"/>
              <a:t>and</a:t>
            </a:r>
            <a:r>
              <a:rPr sz="4300" spc="-30" dirty="0"/>
              <a:t> </a:t>
            </a:r>
            <a:r>
              <a:rPr sz="4300" dirty="0"/>
              <a:t>Alert</a:t>
            </a:r>
            <a:r>
              <a:rPr sz="4300" spc="-30" dirty="0"/>
              <a:t> </a:t>
            </a:r>
            <a:r>
              <a:rPr sz="4300" spc="-10" dirty="0"/>
              <a:t>System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901700" y="3090986"/>
            <a:ext cx="2893695" cy="30067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b="1" spc="-25" dirty="0">
                <a:solidFill>
                  <a:srgbClr val="3F3F3F"/>
                </a:solidFill>
                <a:latin typeface="Calibri"/>
                <a:cs typeface="Calibri"/>
              </a:rPr>
              <a:t>C09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40" dirty="0">
                <a:solidFill>
                  <a:srgbClr val="3F3F3F"/>
                </a:solidFill>
                <a:latin typeface="Calibri"/>
                <a:cs typeface="Calibri"/>
              </a:rPr>
              <a:t>Team</a:t>
            </a:r>
            <a:r>
              <a:rPr sz="2000" b="1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F3F3F"/>
                </a:solidFill>
                <a:latin typeface="Calibri"/>
                <a:cs typeface="Calibri"/>
              </a:rPr>
              <a:t>Members: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M.</a:t>
            </a:r>
            <a:r>
              <a:rPr sz="20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Snehitha</a:t>
            </a:r>
            <a:r>
              <a:rPr sz="20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(247R1A66G5),</a:t>
            </a:r>
            <a:endParaRPr sz="2000">
              <a:latin typeface="Calibri"/>
              <a:cs typeface="Calibri"/>
            </a:endParaRPr>
          </a:p>
          <a:p>
            <a:pPr marL="12700" marR="1163955">
              <a:lnSpc>
                <a:spcPts val="2100"/>
              </a:lnSpc>
              <a:spcBef>
                <a:spcPts val="1445"/>
              </a:spcBef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M.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Sriram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Reddy (247R1A66G6),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S.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Arun</a:t>
            </a:r>
            <a:r>
              <a:rPr sz="20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(247R1A66J4)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B.</a:t>
            </a:r>
            <a:r>
              <a:rPr sz="20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F3F3F"/>
                </a:solidFill>
                <a:latin typeface="Calibri"/>
                <a:cs typeface="Calibri"/>
              </a:rPr>
              <a:t>Laxman</a:t>
            </a:r>
            <a:r>
              <a:rPr sz="20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Calibri"/>
                <a:cs typeface="Calibri"/>
              </a:rPr>
              <a:t>(257R5A6616)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101" y="566140"/>
            <a:ext cx="7933308" cy="8108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60093" y="3817251"/>
            <a:ext cx="2564765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Under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Guidance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12700" marR="790575">
              <a:lnSpc>
                <a:spcPct val="100699"/>
              </a:lnSpc>
            </a:pPr>
            <a:r>
              <a:rPr sz="1800" dirty="0">
                <a:latin typeface="Calibri"/>
                <a:cs typeface="Calibri"/>
              </a:rPr>
              <a:t>B.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Swaroopa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Rani </a:t>
            </a:r>
            <a:r>
              <a:rPr sz="1800" spc="-10" dirty="0">
                <a:latin typeface="Calibri"/>
                <a:cs typeface="Calibri"/>
              </a:rPr>
              <a:t>Assistant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professor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" dirty="0">
                <a:latin typeface="Calibri"/>
                <a:cs typeface="Calibri"/>
              </a:rPr>
              <a:t>Department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CSE(AI&amp;ML)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684" y="945536"/>
            <a:ext cx="43332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4785" algn="l"/>
                <a:tab pos="2100580" algn="l"/>
              </a:tabLst>
            </a:pPr>
            <a:r>
              <a:rPr spc="-10" dirty="0"/>
              <a:t>Table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3D5912-9686-A907-0F54-D17E6E72A26B}"/>
              </a:ext>
            </a:extLst>
          </p:cNvPr>
          <p:cNvSpPr txBox="1"/>
          <p:nvPr/>
        </p:nvSpPr>
        <p:spPr>
          <a:xfrm>
            <a:off x="1295400" y="1828800"/>
            <a:ext cx="4038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n-lt"/>
              </a:rPr>
              <a:t> Abstract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n-lt"/>
              </a:rPr>
              <a:t> Existing System and  Disadvantages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n-lt"/>
              </a:rPr>
              <a:t> Proposed System and Advantages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n-lt"/>
              </a:rPr>
              <a:t> System Architecture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n-lt"/>
              </a:rPr>
              <a:t> UML Diagrams–      </a:t>
            </a:r>
          </a:p>
          <a:p>
            <a:pPr algn="ctr"/>
            <a:r>
              <a:rPr lang="en-IN" dirty="0">
                <a:latin typeface="+mn-lt"/>
              </a:rPr>
              <a:t>   Use Case Diagram   </a:t>
            </a:r>
          </a:p>
          <a:p>
            <a:pPr algn="ctr"/>
            <a:r>
              <a:rPr lang="en-IN" dirty="0">
                <a:latin typeface="+mn-lt"/>
              </a:rPr>
              <a:t>     Class Diagram </a:t>
            </a:r>
          </a:p>
          <a:p>
            <a:pPr algn="ctr"/>
            <a:r>
              <a:rPr lang="en-IN" dirty="0">
                <a:latin typeface="+mn-lt"/>
              </a:rPr>
              <a:t>       Sequence Diagram                Component Diagram </a:t>
            </a:r>
          </a:p>
          <a:p>
            <a:pPr algn="ctr"/>
            <a:r>
              <a:rPr lang="en-IN" dirty="0">
                <a:latin typeface="+mn-lt"/>
              </a:rPr>
              <a:t>        Activity Diagram    </a:t>
            </a:r>
          </a:p>
          <a:p>
            <a:pPr algn="l"/>
            <a:r>
              <a:rPr lang="en-IN" dirty="0">
                <a:latin typeface="+mn-lt"/>
              </a:rPr>
              <a:t>6.Implementation </a:t>
            </a:r>
          </a:p>
          <a:p>
            <a:pPr algn="l"/>
            <a:r>
              <a:rPr lang="en-IN" dirty="0">
                <a:latin typeface="+mn-lt"/>
              </a:rPr>
              <a:t>7.   Results </a:t>
            </a:r>
          </a:p>
          <a:p>
            <a:pPr algn="l"/>
            <a:r>
              <a:rPr lang="en-IN" dirty="0">
                <a:latin typeface="+mn-lt"/>
              </a:rPr>
              <a:t>8. Conclusion   </a:t>
            </a:r>
          </a:p>
          <a:p>
            <a:pPr algn="l"/>
            <a:r>
              <a:rPr lang="en-IN" dirty="0">
                <a:latin typeface="+mn-lt"/>
              </a:rPr>
              <a:t>9. Future Scope </a:t>
            </a:r>
          </a:p>
          <a:p>
            <a:pPr algn="l"/>
            <a:r>
              <a:rPr lang="en-IN" dirty="0">
                <a:latin typeface="+mn-lt"/>
              </a:rPr>
              <a:t>10.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900" y="2542477"/>
            <a:ext cx="8274684" cy="30448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27025" marR="12700" indent="-314325">
              <a:lnSpc>
                <a:spcPts val="2100"/>
              </a:lnSpc>
              <a:spcBef>
                <a:spcPts val="420"/>
              </a:spcBef>
              <a:buClr>
                <a:srgbClr val="E38212"/>
              </a:buClr>
              <a:buSzPct val="90000"/>
              <a:buFont typeface="Arial MT"/>
              <a:buChar char="•"/>
              <a:tabLst>
                <a:tab pos="327025" algn="l"/>
              </a:tabLst>
            </a:pP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project</a:t>
            </a:r>
            <a:r>
              <a:rPr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focuses</a:t>
            </a:r>
            <a:r>
              <a:rPr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design</a:t>
            </a:r>
            <a:r>
              <a:rPr spc="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development</a:t>
            </a:r>
            <a:r>
              <a:rPr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IoT</a:t>
            </a:r>
            <a:r>
              <a:rPr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based</a:t>
            </a:r>
            <a:r>
              <a:rPr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pothole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speed</a:t>
            </a:r>
            <a:r>
              <a:rPr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20" dirty="0">
                <a:solidFill>
                  <a:srgbClr val="3F3F3F"/>
                </a:solidFill>
                <a:latin typeface="Calibri"/>
                <a:cs typeface="Calibri"/>
              </a:rPr>
              <a:t>breaker</a:t>
            </a:r>
            <a:r>
              <a:rPr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detection</a:t>
            </a:r>
            <a:r>
              <a:rPr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20" dirty="0">
                <a:solidFill>
                  <a:srgbClr val="3F3F3F"/>
                </a:solidFill>
                <a:latin typeface="Calibri"/>
                <a:cs typeface="Calibri"/>
              </a:rPr>
              <a:t>system</a:t>
            </a:r>
            <a:r>
              <a:rPr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ESP32</a:t>
            </a:r>
            <a:r>
              <a:rPr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microcontroller.</a:t>
            </a:r>
            <a:endParaRPr dirty="0">
              <a:latin typeface="Calibri"/>
              <a:cs typeface="Calibri"/>
            </a:endParaRPr>
          </a:p>
          <a:p>
            <a:pPr marL="327025" marR="7620" indent="-314325">
              <a:lnSpc>
                <a:spcPts val="2100"/>
              </a:lnSpc>
              <a:spcBef>
                <a:spcPts val="1500"/>
              </a:spcBef>
              <a:buClr>
                <a:srgbClr val="E38212"/>
              </a:buClr>
              <a:buSzPct val="90000"/>
              <a:buFont typeface="Arial MT"/>
              <a:buChar char="•"/>
              <a:tabLst>
                <a:tab pos="327025" algn="l"/>
              </a:tabLst>
            </a:pP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pc="11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system</a:t>
            </a:r>
            <a:r>
              <a:rPr spc="229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continuously</a:t>
            </a:r>
            <a:r>
              <a:rPr spc="2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monitors</a:t>
            </a:r>
            <a:r>
              <a:rPr spc="1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road</a:t>
            </a:r>
            <a:r>
              <a:rPr spc="2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surface</a:t>
            </a:r>
            <a:r>
              <a:rPr spc="1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conditions</a:t>
            </a:r>
            <a:r>
              <a:rPr spc="2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pc="1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ultrasonic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sensors</a:t>
            </a:r>
            <a:r>
              <a:rPr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identify</a:t>
            </a:r>
            <a:r>
              <a:rPr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sudden</a:t>
            </a:r>
            <a:r>
              <a:rPr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height</a:t>
            </a:r>
            <a:r>
              <a:rPr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depth</a:t>
            </a:r>
            <a:r>
              <a:rPr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variations.</a:t>
            </a:r>
            <a:endParaRPr dirty="0">
              <a:latin typeface="Calibri"/>
              <a:cs typeface="Calibri"/>
            </a:endParaRPr>
          </a:p>
          <a:p>
            <a:pPr marL="327025" marR="13970" indent="-314325">
              <a:lnSpc>
                <a:spcPts val="2100"/>
              </a:lnSpc>
              <a:spcBef>
                <a:spcPts val="1500"/>
              </a:spcBef>
              <a:buClr>
                <a:srgbClr val="E38212"/>
              </a:buClr>
              <a:buSzPct val="90000"/>
              <a:buFont typeface="Arial MT"/>
              <a:buChar char="•"/>
              <a:tabLst>
                <a:tab pos="327025" algn="l"/>
              </a:tabLst>
            </a:pP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Bluetooth</a:t>
            </a:r>
            <a:r>
              <a:rPr spc="2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communication</a:t>
            </a:r>
            <a:r>
              <a:rPr spc="2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enables</a:t>
            </a:r>
            <a:r>
              <a:rPr spc="2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remote</a:t>
            </a:r>
            <a:r>
              <a:rPr spc="2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control</a:t>
            </a:r>
            <a:r>
              <a:rPr spc="20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pc="2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pc="2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robotic</a:t>
            </a:r>
            <a:r>
              <a:rPr spc="30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platform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through</a:t>
            </a:r>
            <a:r>
              <a:rPr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mobile</a:t>
            </a:r>
            <a:r>
              <a:rPr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application.</a:t>
            </a:r>
            <a:endParaRPr dirty="0">
              <a:latin typeface="Calibri"/>
              <a:cs typeface="Calibri"/>
            </a:endParaRPr>
          </a:p>
          <a:p>
            <a:pPr marL="327025" marR="5080" indent="-314325" algn="just">
              <a:lnSpc>
                <a:spcPct val="89100"/>
              </a:lnSpc>
              <a:spcBef>
                <a:spcPts val="1440"/>
              </a:spcBef>
              <a:buClr>
                <a:srgbClr val="E38212"/>
              </a:buClr>
              <a:buSzPct val="90000"/>
              <a:buFont typeface="Arial MT"/>
              <a:buChar char="•"/>
              <a:tabLst>
                <a:tab pos="327025" algn="l"/>
              </a:tabLst>
            </a:pP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Upon</a:t>
            </a:r>
            <a:r>
              <a:rPr spc="1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detecting</a:t>
            </a:r>
            <a:r>
              <a:rPr spc="2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pc="1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pothole</a:t>
            </a:r>
            <a:r>
              <a:rPr spc="2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pc="2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speed</a:t>
            </a:r>
            <a:r>
              <a:rPr spc="1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breaker,</a:t>
            </a:r>
            <a:r>
              <a:rPr spc="2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pc="1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system</a:t>
            </a:r>
            <a:r>
              <a:rPr spc="2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activates</a:t>
            </a:r>
            <a:r>
              <a:rPr spc="20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pc="1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buzzer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pc="2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sends</a:t>
            </a:r>
            <a:r>
              <a:rPr spc="1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alert</a:t>
            </a:r>
            <a:r>
              <a:rPr spc="1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information</a:t>
            </a:r>
            <a:r>
              <a:rPr spc="2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pc="1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pc="20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mobile</a:t>
            </a:r>
            <a:r>
              <a:rPr spc="1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device</a:t>
            </a:r>
            <a:r>
              <a:rPr spc="2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that</a:t>
            </a:r>
            <a:r>
              <a:rPr spc="1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helps</a:t>
            </a:r>
            <a:r>
              <a:rPr spc="1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pc="2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reduce</a:t>
            </a:r>
            <a:r>
              <a:rPr spc="1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2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dirty="0">
                <a:solidFill>
                  <a:srgbClr val="3F3F3F"/>
                </a:solidFill>
                <a:latin typeface="Calibri"/>
                <a:cs typeface="Calibri"/>
              </a:rPr>
              <a:t>accident</a:t>
            </a:r>
            <a:r>
              <a:rPr spc="-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3F3F3F"/>
                </a:solidFill>
                <a:latin typeface="Calibri"/>
                <a:cs typeface="Calibri"/>
              </a:rPr>
              <a:t>risks.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684" y="945536"/>
            <a:ext cx="38106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4539" algn="l"/>
              </a:tabLst>
            </a:pPr>
            <a:r>
              <a:rPr spc="-10" dirty="0"/>
              <a:t>Existing</a:t>
            </a:r>
            <a:r>
              <a:rPr dirty="0"/>
              <a:t>	</a:t>
            </a:r>
            <a:r>
              <a:rPr spc="-3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6905" y="2327411"/>
            <a:ext cx="7397115" cy="34239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27025" marR="9525" indent="-314325">
              <a:lnSpc>
                <a:spcPts val="1950"/>
              </a:lnSpc>
              <a:spcBef>
                <a:spcPts val="340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Road</a:t>
            </a:r>
            <a:r>
              <a:rPr sz="1800" spc="3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potholes</a:t>
            </a:r>
            <a:r>
              <a:rPr sz="1800" spc="3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3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speed</a:t>
            </a:r>
            <a:r>
              <a:rPr sz="1800" spc="3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breakers</a:t>
            </a:r>
            <a:r>
              <a:rPr sz="1800" spc="3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1800" spc="3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currently</a:t>
            </a:r>
            <a:r>
              <a:rPr sz="1800" spc="3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identified</a:t>
            </a:r>
            <a:r>
              <a:rPr sz="1800" spc="3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manually</a:t>
            </a:r>
            <a:r>
              <a:rPr sz="1800" spc="3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by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drivers</a:t>
            </a:r>
            <a:r>
              <a:rPr sz="1800" spc="-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through</a:t>
            </a:r>
            <a:r>
              <a:rPr sz="1800" spc="-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visual</a:t>
            </a:r>
            <a:r>
              <a:rPr sz="1800" spc="-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observation.</a:t>
            </a:r>
            <a:endParaRPr sz="1800" dirty="0">
              <a:latin typeface="Calibri"/>
              <a:cs typeface="Calibri"/>
            </a:endParaRPr>
          </a:p>
          <a:p>
            <a:pPr marL="327025" marR="5080" indent="-314325">
              <a:lnSpc>
                <a:spcPts val="2030"/>
              </a:lnSpc>
              <a:spcBef>
                <a:spcPts val="1285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Such</a:t>
            </a:r>
            <a:r>
              <a:rPr sz="1800" spc="1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methods</a:t>
            </a:r>
            <a:r>
              <a:rPr sz="1800" spc="11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depend</a:t>
            </a:r>
            <a:r>
              <a:rPr sz="1800" spc="1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heavily</a:t>
            </a:r>
            <a:r>
              <a:rPr sz="1800" spc="1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1800" spc="1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visibility</a:t>
            </a:r>
            <a:r>
              <a:rPr sz="1800" spc="1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1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driver</a:t>
            </a:r>
            <a:r>
              <a:rPr sz="1800" spc="1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attention,</a:t>
            </a:r>
            <a:r>
              <a:rPr sz="1800" spc="1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especially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during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night-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adverse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weather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conditions.</a:t>
            </a:r>
            <a:endParaRPr sz="1800" dirty="0">
              <a:latin typeface="Calibri"/>
              <a:cs typeface="Calibri"/>
            </a:endParaRPr>
          </a:p>
          <a:p>
            <a:pPr marL="327025" marR="10160" indent="-314325">
              <a:lnSpc>
                <a:spcPts val="2030"/>
              </a:lnSpc>
              <a:spcBef>
                <a:spcPts val="1265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  <a:tab pos="1014094" algn="l"/>
                <a:tab pos="1301750" algn="l"/>
                <a:tab pos="1551305" algn="l"/>
                <a:tab pos="2077085" algn="l"/>
                <a:tab pos="2402840" algn="l"/>
                <a:tab pos="3519170" algn="l"/>
                <a:tab pos="4006850" algn="l"/>
                <a:tab pos="5180330" algn="l"/>
                <a:tab pos="6182360" algn="l"/>
                <a:tab pos="6755765" algn="l"/>
              </a:tabLst>
            </a:pP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There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lack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affordable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automated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real-time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road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hazard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detection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systems.</a:t>
            </a:r>
            <a:endParaRPr sz="1800" dirty="0">
              <a:latin typeface="Calibri"/>
              <a:cs typeface="Calibri"/>
            </a:endParaRPr>
          </a:p>
          <a:p>
            <a:pPr marL="327025" marR="6985" indent="-314325">
              <a:lnSpc>
                <a:spcPts val="2030"/>
              </a:lnSpc>
              <a:spcBef>
                <a:spcPts val="1265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Manual</a:t>
            </a:r>
            <a:r>
              <a:rPr sz="18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detection</a:t>
            </a:r>
            <a:r>
              <a:rPr sz="18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often</a:t>
            </a:r>
            <a:r>
              <a:rPr sz="18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leads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vehicle</a:t>
            </a:r>
            <a:r>
              <a:rPr sz="1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damage,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discomfort,</a:t>
            </a:r>
            <a:r>
              <a:rPr sz="18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increased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accident</a:t>
            </a:r>
            <a:r>
              <a:rPr sz="1800" spc="-10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rates.</a:t>
            </a:r>
            <a:endParaRPr sz="18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090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existing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approach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unreliable,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inefficient,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unsafe.</a:t>
            </a:r>
            <a:endParaRPr sz="18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15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Although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this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ADAS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system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remains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only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expensive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vehicles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Disadvantages: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2094026"/>
            <a:ext cx="6330950" cy="257810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1240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real-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detection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alert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mechanism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road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hazards.</a:t>
            </a:r>
            <a:endParaRPr sz="18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140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High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dependency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human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judgment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visual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clarity.</a:t>
            </a:r>
            <a:endParaRPr sz="18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15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Increased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risk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accidents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vehicle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maintenance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costs.</a:t>
            </a:r>
            <a:endParaRPr sz="18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15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Ineffective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during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low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visibility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conditions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such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as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fog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rain.</a:t>
            </a:r>
            <a:endParaRPr sz="18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15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Not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suitable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modern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smart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transportation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requirements.</a:t>
            </a:r>
            <a:endParaRPr sz="18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15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Existing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closer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system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like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ADAS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will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be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higher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costs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execution.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93010" algn="l"/>
              </a:tabLst>
            </a:pPr>
            <a:r>
              <a:rPr spc="-10" dirty="0"/>
              <a:t>Proposed</a:t>
            </a:r>
            <a:r>
              <a:rPr dirty="0"/>
              <a:t>	</a:t>
            </a:r>
            <a:r>
              <a:rPr spc="-3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8" y="1850158"/>
            <a:ext cx="7805420" cy="30048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27025" marR="19050" indent="-314325">
              <a:lnSpc>
                <a:spcPts val="1950"/>
              </a:lnSpc>
              <a:spcBef>
                <a:spcPts val="340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  <a:tab pos="826769" algn="l"/>
                <a:tab pos="1859914" algn="l"/>
                <a:tab pos="2655570" algn="l"/>
                <a:tab pos="3574415" algn="l"/>
                <a:tab pos="3960495" algn="l"/>
                <a:tab pos="4679315" algn="l"/>
                <a:tab pos="6265545" algn="l"/>
                <a:tab pos="7365365" algn="l"/>
              </a:tabLst>
            </a:pP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proposed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system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employs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ESP32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microcontroller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integrated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with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ultrasonic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sensors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road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surface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analysis.</a:t>
            </a:r>
            <a:endParaRPr sz="1800" dirty="0">
              <a:latin typeface="Calibri"/>
              <a:cs typeface="Calibri"/>
            </a:endParaRPr>
          </a:p>
          <a:p>
            <a:pPr marL="327025" marR="11430" indent="-314325">
              <a:lnSpc>
                <a:spcPts val="2030"/>
              </a:lnSpc>
              <a:spcBef>
                <a:spcPts val="1285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1800" spc="2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detects</a:t>
            </a:r>
            <a:r>
              <a:rPr sz="1800" spc="229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potholes</a:t>
            </a:r>
            <a:r>
              <a:rPr sz="1800" spc="2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229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speed</a:t>
            </a:r>
            <a:r>
              <a:rPr sz="1800" spc="2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breakers</a:t>
            </a:r>
            <a:r>
              <a:rPr sz="1800" spc="1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1800" spc="2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analyzing</a:t>
            </a:r>
            <a:r>
              <a:rPr sz="1800" spc="229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distance</a:t>
            </a:r>
            <a:r>
              <a:rPr sz="1800" spc="2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variations</a:t>
            </a:r>
            <a:r>
              <a:rPr sz="1800" spc="1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from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road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surface.</a:t>
            </a:r>
            <a:endParaRPr sz="1800" dirty="0">
              <a:latin typeface="Calibri"/>
              <a:cs typeface="Calibri"/>
            </a:endParaRPr>
          </a:p>
          <a:p>
            <a:pPr marL="327025" marR="8890" indent="-314325">
              <a:lnSpc>
                <a:spcPts val="2020"/>
              </a:lnSpc>
              <a:spcBef>
                <a:spcPts val="1275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  <a:tab pos="804545" algn="l"/>
                <a:tab pos="1597025" algn="l"/>
                <a:tab pos="2532380" algn="l"/>
                <a:tab pos="4843145" algn="l"/>
                <a:tab pos="5235575" algn="l"/>
                <a:tab pos="6285230" algn="l"/>
                <a:tab pos="6906259" algn="l"/>
                <a:tab pos="7146290" algn="l"/>
              </a:tabLst>
            </a:pP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robotic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platform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is</a:t>
            </a:r>
            <a:r>
              <a:rPr sz="1800" spc="65" dirty="0">
                <a:solidFill>
                  <a:srgbClr val="3F3F3F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remotely</a:t>
            </a:r>
            <a:r>
              <a:rPr sz="1800" spc="70" dirty="0">
                <a:solidFill>
                  <a:srgbClr val="3F3F3F"/>
                </a:solidFill>
                <a:latin typeface="Calibri"/>
                <a:cs typeface="Calibri"/>
              </a:rPr>
              <a:t> 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controlled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via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Bluetooth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mobile application.</a:t>
            </a:r>
            <a:endParaRPr sz="18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100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buzzer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provides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immediate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audible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alerts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when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hazards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detected.</a:t>
            </a:r>
            <a:endParaRPr sz="1800" dirty="0">
              <a:latin typeface="Calibri"/>
              <a:cs typeface="Calibri"/>
            </a:endParaRPr>
          </a:p>
          <a:p>
            <a:pPr marL="327025" marR="5080" indent="-314325">
              <a:lnSpc>
                <a:spcPts val="2030"/>
              </a:lnSpc>
              <a:spcBef>
                <a:spcPts val="1390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Alert</a:t>
            </a:r>
            <a:r>
              <a:rPr sz="1800" spc="25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data</a:t>
            </a:r>
            <a:r>
              <a:rPr sz="1800" spc="30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800" spc="3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simultaneously</a:t>
            </a:r>
            <a:r>
              <a:rPr sz="1800" spc="1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transmitted</a:t>
            </a:r>
            <a:r>
              <a:rPr sz="1800" spc="3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800" spc="2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spc="2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user's</a:t>
            </a:r>
            <a:r>
              <a:rPr sz="1800" spc="2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mobile</a:t>
            </a:r>
            <a:r>
              <a:rPr sz="1800" spc="3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device</a:t>
            </a:r>
            <a:r>
              <a:rPr sz="1800" spc="2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through Bluetooth.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684" y="326411"/>
            <a:ext cx="6010275" cy="137604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 marR="5080">
              <a:lnSpc>
                <a:spcPts val="4880"/>
              </a:lnSpc>
              <a:spcBef>
                <a:spcPts val="994"/>
              </a:spcBef>
              <a:tabLst>
                <a:tab pos="3008630" algn="l"/>
                <a:tab pos="3653790" algn="l"/>
              </a:tabLst>
            </a:pPr>
            <a:r>
              <a:rPr spc="-10" dirty="0"/>
              <a:t>Advantages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Proposed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799" y="2039676"/>
            <a:ext cx="6189980" cy="214947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1240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Provides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real-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detection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alerting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road</a:t>
            </a:r>
            <a:r>
              <a:rPr sz="18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hazards.</a:t>
            </a:r>
            <a:endParaRPr sz="18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140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Improves</a:t>
            </a:r>
            <a:r>
              <a:rPr sz="1800" spc="-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overall</a:t>
            </a:r>
            <a:r>
              <a:rPr sz="1800" spc="-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driving</a:t>
            </a:r>
            <a:r>
              <a:rPr sz="18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safety</a:t>
            </a:r>
            <a:r>
              <a:rPr sz="1800" spc="-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reduces</a:t>
            </a:r>
            <a:r>
              <a:rPr sz="18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accident</a:t>
            </a:r>
            <a:r>
              <a:rPr sz="1800" spc="-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risks.</a:t>
            </a:r>
            <a:endParaRPr sz="18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15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Low-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cost,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portable,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easy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implement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solution.</a:t>
            </a:r>
            <a:endParaRPr sz="18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15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Supports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Bluetooth-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based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remote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control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communication.</a:t>
            </a:r>
            <a:endParaRPr sz="18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15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Suitable</a:t>
            </a:r>
            <a:r>
              <a:rPr sz="18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8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smart</a:t>
            </a:r>
            <a:r>
              <a:rPr sz="18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transportation</a:t>
            </a:r>
            <a:r>
              <a:rPr sz="18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road</a:t>
            </a:r>
            <a:r>
              <a:rPr sz="18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monitoring</a:t>
            </a:r>
            <a:r>
              <a:rPr sz="18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systems.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684" y="326411"/>
            <a:ext cx="5879465" cy="761361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 marR="5080">
              <a:lnSpc>
                <a:spcPts val="4880"/>
              </a:lnSpc>
              <a:spcBef>
                <a:spcPts val="994"/>
              </a:spcBef>
              <a:tabLst>
                <a:tab pos="2370455" algn="l"/>
                <a:tab pos="3441065" algn="l"/>
              </a:tabLst>
            </a:pPr>
            <a:r>
              <a:rPr lang="en-US" spc="-10" dirty="0"/>
              <a:t>System Architecture</a:t>
            </a:r>
            <a:endParaRPr spc="-1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2AC58B-D38E-D858-69F8-B36023E6E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79" y="2209800"/>
            <a:ext cx="7406642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0819F-9E05-C678-3045-FBFF34BCF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84" y="945536"/>
            <a:ext cx="6565916" cy="2215991"/>
          </a:xfrm>
        </p:spPr>
        <p:txBody>
          <a:bodyPr/>
          <a:lstStyle/>
          <a:p>
            <a:r>
              <a:rPr lang="en-IN" dirty="0"/>
              <a:t>Use Case Diagram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F68B6-93C1-59EF-BB73-1A240F705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231" y="2209800"/>
            <a:ext cx="5443537" cy="352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38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21335C-F62F-05AC-4AD3-C5E4D0DF26BF}"/>
              </a:ext>
            </a:extLst>
          </p:cNvPr>
          <p:cNvSpPr txBox="1"/>
          <p:nvPr/>
        </p:nvSpPr>
        <p:spPr>
          <a:xfrm>
            <a:off x="1371600" y="914400"/>
            <a:ext cx="419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+mj-lt"/>
              </a:rPr>
              <a:t>Class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F8B3C-0682-E135-0222-88AD11C05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999680"/>
            <a:ext cx="5545067" cy="382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02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D0895B-690C-0C03-DCE5-C25F4DAFBF4E}"/>
              </a:ext>
            </a:extLst>
          </p:cNvPr>
          <p:cNvSpPr txBox="1"/>
          <p:nvPr/>
        </p:nvSpPr>
        <p:spPr>
          <a:xfrm>
            <a:off x="990600" y="762000"/>
            <a:ext cx="624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4800" dirty="0">
                <a:latin typeface="+mj-lt"/>
              </a:rPr>
              <a:t>Sequence Diagram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8043E1-31FA-4256-ED39-81529613D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09800"/>
            <a:ext cx="7848600" cy="370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4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E7C13D-0C1D-1C7A-0EC0-19993E35A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438400"/>
            <a:ext cx="5859938" cy="34669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1291A7-D7B6-AC74-2ED7-CA9E7A340476}"/>
              </a:ext>
            </a:extLst>
          </p:cNvPr>
          <p:cNvSpPr txBox="1"/>
          <p:nvPr/>
        </p:nvSpPr>
        <p:spPr>
          <a:xfrm>
            <a:off x="990600" y="838200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+mn-lt"/>
              </a:rPr>
              <a:t>Component Diagram</a:t>
            </a:r>
          </a:p>
        </p:txBody>
      </p:sp>
    </p:spTree>
    <p:extLst>
      <p:ext uri="{BB962C8B-B14F-4D97-AF65-F5344CB8AC3E}">
        <p14:creationId xmlns:p14="http://schemas.microsoft.com/office/powerpoint/2010/main" val="1198861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44DF-F370-91ED-CF83-89BACF01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34729A-5E8E-C0FD-40B1-E6F83D9CE3A9}"/>
              </a:ext>
            </a:extLst>
          </p:cNvPr>
          <p:cNvSpPr txBox="1"/>
          <p:nvPr/>
        </p:nvSpPr>
        <p:spPr>
          <a:xfrm>
            <a:off x="990600" y="762000"/>
            <a:ext cx="624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+mj-lt"/>
              </a:rPr>
              <a:t>Activity Diagram</a:t>
            </a:r>
            <a:endParaRPr lang="en-IN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BFD7B-B8B5-F8AC-746D-B5264D2D0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938867"/>
            <a:ext cx="3861786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50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39F813-CDA1-9AB4-C9C4-D97BCD47624C}"/>
              </a:ext>
            </a:extLst>
          </p:cNvPr>
          <p:cNvSpPr txBox="1"/>
          <p:nvPr/>
        </p:nvSpPr>
        <p:spPr>
          <a:xfrm>
            <a:off x="1066800" y="83820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+mj-lt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990897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311A05-8F33-1102-4548-926AFBD5F48C}"/>
              </a:ext>
            </a:extLst>
          </p:cNvPr>
          <p:cNvSpPr txBox="1"/>
          <p:nvPr/>
        </p:nvSpPr>
        <p:spPr>
          <a:xfrm>
            <a:off x="1219200" y="914400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Result</a:t>
            </a:r>
            <a:endParaRPr lang="en-IN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5131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8" y="1850158"/>
            <a:ext cx="7804784" cy="25761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27025" marR="10795" indent="-314325">
              <a:lnSpc>
                <a:spcPts val="1950"/>
              </a:lnSpc>
              <a:spcBef>
                <a:spcPts val="340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  <a:tab pos="824230" algn="l"/>
                <a:tab pos="1845310" algn="l"/>
                <a:tab pos="2723515" algn="l"/>
                <a:tab pos="3221355" algn="l"/>
                <a:tab pos="3928110" algn="l"/>
                <a:tab pos="4787265" algn="l"/>
                <a:tab pos="5828030" algn="l"/>
                <a:tab pos="6620509" algn="l"/>
                <a:tab pos="7555865" algn="l"/>
              </a:tabLst>
            </a:pP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proposed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pothole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speed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breaker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detection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system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provides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an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effective</a:t>
            </a:r>
            <a:r>
              <a:rPr sz="18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economical</a:t>
            </a:r>
            <a:r>
              <a:rPr sz="18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solution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road</a:t>
            </a:r>
            <a:r>
              <a:rPr sz="18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safety</a:t>
            </a:r>
            <a:r>
              <a:rPr sz="18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enhancement.</a:t>
            </a:r>
            <a:endParaRPr sz="1800" dirty="0">
              <a:latin typeface="Calibri"/>
              <a:cs typeface="Calibri"/>
            </a:endParaRPr>
          </a:p>
          <a:p>
            <a:pPr marL="327025" marR="5715" indent="-314325">
              <a:lnSpc>
                <a:spcPts val="2030"/>
              </a:lnSpc>
              <a:spcBef>
                <a:spcPts val="1285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1800" spc="3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integrating</a:t>
            </a:r>
            <a:r>
              <a:rPr sz="1800" spc="3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sensors,</a:t>
            </a:r>
            <a:r>
              <a:rPr sz="1800" spc="3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wireless</a:t>
            </a:r>
            <a:r>
              <a:rPr sz="1800" spc="30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communication,</a:t>
            </a:r>
            <a:r>
              <a:rPr sz="1800" spc="3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spc="3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embedded</a:t>
            </a:r>
            <a:r>
              <a:rPr sz="1800" spc="3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control,</a:t>
            </a:r>
            <a:r>
              <a:rPr sz="1800" spc="3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system</a:t>
            </a:r>
            <a:r>
              <a:rPr sz="18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ensures</a:t>
            </a:r>
            <a:r>
              <a:rPr sz="18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timely</a:t>
            </a:r>
            <a:r>
              <a:rPr sz="18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hazard</a:t>
            </a:r>
            <a:r>
              <a:rPr sz="18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detection.</a:t>
            </a:r>
            <a:endParaRPr sz="1800" dirty="0">
              <a:latin typeface="Calibri"/>
              <a:cs typeface="Calibri"/>
            </a:endParaRPr>
          </a:p>
          <a:p>
            <a:pPr marL="327025" marR="7620" indent="-314325">
              <a:lnSpc>
                <a:spcPts val="2020"/>
              </a:lnSpc>
              <a:spcBef>
                <a:spcPts val="1275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  <a:tab pos="800735" algn="l"/>
                <a:tab pos="1598930" algn="l"/>
                <a:tab pos="3015615" algn="l"/>
                <a:tab pos="3461385" algn="l"/>
                <a:tab pos="4383405" algn="l"/>
                <a:tab pos="5552440" algn="l"/>
                <a:tab pos="5874385" algn="l"/>
                <a:tab pos="6301105" algn="l"/>
                <a:tab pos="6784340" algn="l"/>
              </a:tabLst>
            </a:pP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project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demonstrates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practical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application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IoT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embedded systems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real-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world</a:t>
            </a:r>
            <a:r>
              <a:rPr sz="18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transportation</a:t>
            </a:r>
            <a:r>
              <a:rPr sz="18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problems.</a:t>
            </a:r>
            <a:endParaRPr sz="1800" dirty="0">
              <a:latin typeface="Calibri"/>
              <a:cs typeface="Calibri"/>
            </a:endParaRPr>
          </a:p>
          <a:p>
            <a:pPr marL="327025" marR="5080" indent="-314325">
              <a:lnSpc>
                <a:spcPts val="2030"/>
              </a:lnSpc>
              <a:spcBef>
                <a:spcPts val="1275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</a:tabLst>
            </a:pP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Future</a:t>
            </a:r>
            <a:r>
              <a:rPr sz="1800" spc="3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enhancements</a:t>
            </a:r>
            <a:r>
              <a:rPr sz="1800" spc="4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may</a:t>
            </a:r>
            <a:r>
              <a:rPr sz="1800" spc="4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include</a:t>
            </a:r>
            <a:r>
              <a:rPr sz="1800" spc="3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GPS</a:t>
            </a:r>
            <a:r>
              <a:rPr sz="1800" spc="48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integration,</a:t>
            </a:r>
            <a:r>
              <a:rPr sz="1800" spc="3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cloud</a:t>
            </a:r>
            <a:r>
              <a:rPr sz="1800" spc="4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connectivity,</a:t>
            </a:r>
            <a:r>
              <a:rPr sz="1800" spc="3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and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improved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sensor</a:t>
            </a:r>
            <a:r>
              <a:rPr sz="1800" spc="-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accuracy.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5A11-3D23-241E-15FD-FBA9D29C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>
                <a:latin typeface="+mj-lt"/>
              </a:rPr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0DF00-59FF-683E-CE90-8C6AD7084858}"/>
              </a:ext>
            </a:extLst>
          </p:cNvPr>
          <p:cNvSpPr txBox="1"/>
          <p:nvPr/>
        </p:nvSpPr>
        <p:spPr>
          <a:xfrm>
            <a:off x="1752600" y="2209800"/>
            <a:ext cx="6324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Integration of GPS for location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Use of IoT &amp; Cloud for real-time data storage and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Development of Mobile App for alerts and road condition display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Use of Advanced Sensors to improve detection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Implementation of Machine Learning for smart decision-making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Direct installation in vehicles for automatic monitoring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83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27025" marR="5715" indent="-314325">
              <a:lnSpc>
                <a:spcPts val="1950"/>
              </a:lnSpc>
              <a:spcBef>
                <a:spcPts val="340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</a:tabLst>
            </a:pPr>
            <a:r>
              <a:rPr dirty="0"/>
              <a:t>Mohan</a:t>
            </a:r>
            <a:r>
              <a:rPr spc="310" dirty="0"/>
              <a:t> </a:t>
            </a:r>
            <a:r>
              <a:rPr dirty="0"/>
              <a:t>et</a:t>
            </a:r>
            <a:r>
              <a:rPr spc="185" dirty="0"/>
              <a:t> </a:t>
            </a:r>
            <a:r>
              <a:rPr dirty="0"/>
              <a:t>al.,</a:t>
            </a:r>
            <a:r>
              <a:rPr spc="305" dirty="0"/>
              <a:t> </a:t>
            </a:r>
            <a:r>
              <a:rPr dirty="0"/>
              <a:t>Nericell:</a:t>
            </a:r>
            <a:r>
              <a:rPr spc="250" dirty="0"/>
              <a:t> </a:t>
            </a:r>
            <a:r>
              <a:rPr dirty="0"/>
              <a:t>Rich</a:t>
            </a:r>
            <a:r>
              <a:rPr spc="290" dirty="0"/>
              <a:t> </a:t>
            </a:r>
            <a:r>
              <a:rPr dirty="0"/>
              <a:t>Monitoring</a:t>
            </a:r>
            <a:r>
              <a:rPr spc="270" dirty="0"/>
              <a:t> </a:t>
            </a:r>
            <a:r>
              <a:rPr dirty="0"/>
              <a:t>of</a:t>
            </a:r>
            <a:r>
              <a:rPr spc="245" dirty="0"/>
              <a:t> </a:t>
            </a:r>
            <a:r>
              <a:rPr dirty="0"/>
              <a:t>Road</a:t>
            </a:r>
            <a:r>
              <a:rPr spc="285" dirty="0"/>
              <a:t> </a:t>
            </a:r>
            <a:r>
              <a:rPr dirty="0"/>
              <a:t>and</a:t>
            </a:r>
            <a:r>
              <a:rPr spc="260" dirty="0"/>
              <a:t> </a:t>
            </a:r>
            <a:r>
              <a:rPr dirty="0"/>
              <a:t>Traffic</a:t>
            </a:r>
            <a:r>
              <a:rPr spc="275" dirty="0"/>
              <a:t> </a:t>
            </a:r>
            <a:r>
              <a:rPr dirty="0"/>
              <a:t>Conditions</a:t>
            </a:r>
            <a:r>
              <a:rPr spc="280" dirty="0"/>
              <a:t> </a:t>
            </a:r>
            <a:r>
              <a:rPr spc="-10" dirty="0"/>
              <a:t>Using </a:t>
            </a:r>
            <a:r>
              <a:rPr dirty="0"/>
              <a:t>Mobile</a:t>
            </a:r>
            <a:r>
              <a:rPr spc="-65" dirty="0"/>
              <a:t> </a:t>
            </a:r>
            <a:r>
              <a:rPr dirty="0"/>
              <a:t>Smartphones,</a:t>
            </a:r>
            <a:r>
              <a:rPr spc="-60" dirty="0"/>
              <a:t> </a:t>
            </a:r>
            <a:r>
              <a:rPr dirty="0"/>
              <a:t>ACM</a:t>
            </a:r>
            <a:r>
              <a:rPr spc="-60" dirty="0"/>
              <a:t> </a:t>
            </a:r>
            <a:r>
              <a:rPr spc="-10" dirty="0"/>
              <a:t>SenSys.</a:t>
            </a:r>
          </a:p>
          <a:p>
            <a:pPr marL="327025" marR="5080" indent="-314325">
              <a:lnSpc>
                <a:spcPts val="2030"/>
              </a:lnSpc>
              <a:spcBef>
                <a:spcPts val="1285"/>
              </a:spcBef>
              <a:buClr>
                <a:srgbClr val="E38212"/>
              </a:buClr>
              <a:buFont typeface="Arial MT"/>
              <a:buChar char="•"/>
              <a:tabLst>
                <a:tab pos="327025" algn="l"/>
              </a:tabLst>
            </a:pPr>
            <a:r>
              <a:rPr dirty="0"/>
              <a:t>Eriksson</a:t>
            </a:r>
            <a:r>
              <a:rPr spc="290" dirty="0"/>
              <a:t> </a:t>
            </a:r>
            <a:r>
              <a:rPr dirty="0"/>
              <a:t>et</a:t>
            </a:r>
            <a:r>
              <a:rPr spc="254" dirty="0"/>
              <a:t> </a:t>
            </a:r>
            <a:r>
              <a:rPr dirty="0"/>
              <a:t>al.,</a:t>
            </a:r>
            <a:r>
              <a:rPr spc="245" dirty="0"/>
              <a:t> </a:t>
            </a:r>
            <a:r>
              <a:rPr dirty="0"/>
              <a:t>The</a:t>
            </a:r>
            <a:r>
              <a:rPr spc="295" dirty="0"/>
              <a:t> </a:t>
            </a:r>
            <a:r>
              <a:rPr dirty="0"/>
              <a:t>Pothole</a:t>
            </a:r>
            <a:r>
              <a:rPr spc="295" dirty="0"/>
              <a:t> </a:t>
            </a:r>
            <a:r>
              <a:rPr dirty="0"/>
              <a:t>Patrol:</a:t>
            </a:r>
            <a:r>
              <a:rPr spc="260" dirty="0"/>
              <a:t> </a:t>
            </a:r>
            <a:r>
              <a:rPr dirty="0"/>
              <a:t>Using</a:t>
            </a:r>
            <a:r>
              <a:rPr spc="300" dirty="0"/>
              <a:t> </a:t>
            </a:r>
            <a:r>
              <a:rPr dirty="0"/>
              <a:t>a</a:t>
            </a:r>
            <a:r>
              <a:rPr spc="280" dirty="0"/>
              <a:t> </a:t>
            </a:r>
            <a:r>
              <a:rPr dirty="0"/>
              <a:t>Mobile</a:t>
            </a:r>
            <a:r>
              <a:rPr spc="265" dirty="0"/>
              <a:t> </a:t>
            </a:r>
            <a:r>
              <a:rPr dirty="0"/>
              <a:t>Sensor</a:t>
            </a:r>
            <a:r>
              <a:rPr spc="245" dirty="0"/>
              <a:t> </a:t>
            </a:r>
            <a:r>
              <a:rPr dirty="0"/>
              <a:t>Network</a:t>
            </a:r>
            <a:r>
              <a:rPr spc="305" dirty="0"/>
              <a:t> </a:t>
            </a:r>
            <a:r>
              <a:rPr dirty="0"/>
              <a:t>for</a:t>
            </a:r>
            <a:r>
              <a:rPr spc="254" dirty="0"/>
              <a:t> </a:t>
            </a:r>
            <a:r>
              <a:rPr spc="-20" dirty="0"/>
              <a:t>Road </a:t>
            </a:r>
            <a:r>
              <a:rPr spc="-10" dirty="0"/>
              <a:t>Surface</a:t>
            </a:r>
            <a:r>
              <a:rPr spc="-55" dirty="0"/>
              <a:t> </a:t>
            </a:r>
            <a:r>
              <a:rPr dirty="0"/>
              <a:t>Monitoring,</a:t>
            </a:r>
            <a:r>
              <a:rPr spc="-50" dirty="0"/>
              <a:t> </a:t>
            </a:r>
            <a:r>
              <a:rPr dirty="0"/>
              <a:t>ACM</a:t>
            </a:r>
            <a:r>
              <a:rPr spc="-55" dirty="0"/>
              <a:t> </a:t>
            </a:r>
            <a:r>
              <a:rPr spc="-10" dirty="0"/>
              <a:t>MobiSys.</a:t>
            </a:r>
          </a:p>
          <a:p>
            <a:pPr marL="326390" indent="-313690">
              <a:lnSpc>
                <a:spcPct val="100000"/>
              </a:lnSpc>
              <a:spcBef>
                <a:spcPts val="1090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dirty="0"/>
              <a:t>Espressif</a:t>
            </a:r>
            <a:r>
              <a:rPr spc="-50" dirty="0"/>
              <a:t> </a:t>
            </a:r>
            <a:r>
              <a:rPr spc="-10" dirty="0"/>
              <a:t>Systems,</a:t>
            </a:r>
            <a:r>
              <a:rPr spc="-45" dirty="0"/>
              <a:t> </a:t>
            </a:r>
            <a:r>
              <a:rPr dirty="0"/>
              <a:t>ESP32</a:t>
            </a:r>
            <a:r>
              <a:rPr spc="-50" dirty="0"/>
              <a:t> </a:t>
            </a:r>
            <a:r>
              <a:rPr spc="-25" dirty="0"/>
              <a:t>Technical</a:t>
            </a:r>
            <a:r>
              <a:rPr spc="-45" dirty="0"/>
              <a:t> </a:t>
            </a:r>
            <a:r>
              <a:rPr spc="-20" dirty="0"/>
              <a:t>Reference</a:t>
            </a:r>
            <a:r>
              <a:rPr spc="-50" dirty="0"/>
              <a:t> </a:t>
            </a:r>
            <a:r>
              <a:rPr spc="-10" dirty="0"/>
              <a:t>Manual.</a:t>
            </a:r>
          </a:p>
          <a:p>
            <a:pPr marL="326390" indent="-313690">
              <a:lnSpc>
                <a:spcPct val="100000"/>
              </a:lnSpc>
              <a:spcBef>
                <a:spcPts val="1215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spc="-20" dirty="0"/>
              <a:t>HC-</a:t>
            </a:r>
            <a:r>
              <a:rPr dirty="0"/>
              <a:t>SR04</a:t>
            </a:r>
            <a:r>
              <a:rPr spc="-20" dirty="0"/>
              <a:t> </a:t>
            </a:r>
            <a:r>
              <a:rPr spc="-10" dirty="0"/>
              <a:t>Ultrasonic</a:t>
            </a:r>
            <a:r>
              <a:rPr spc="-20" dirty="0"/>
              <a:t> </a:t>
            </a:r>
            <a:r>
              <a:rPr dirty="0"/>
              <a:t>Sensor</a:t>
            </a:r>
            <a:r>
              <a:rPr spc="-20" dirty="0"/>
              <a:t> </a:t>
            </a:r>
            <a:r>
              <a:rPr spc="-10" dirty="0"/>
              <a:t>Datasheet.</a:t>
            </a:r>
          </a:p>
          <a:p>
            <a:pPr marL="326390" indent="-313690">
              <a:lnSpc>
                <a:spcPct val="100000"/>
              </a:lnSpc>
              <a:spcBef>
                <a:spcPts val="1215"/>
              </a:spcBef>
              <a:buClr>
                <a:srgbClr val="E38212"/>
              </a:buClr>
              <a:buFont typeface="Arial MT"/>
              <a:buChar char="•"/>
              <a:tabLst>
                <a:tab pos="326390" algn="l"/>
              </a:tabLst>
            </a:pPr>
            <a:r>
              <a:rPr dirty="0"/>
              <a:t>Bluetooth</a:t>
            </a:r>
            <a:r>
              <a:rPr spc="-65" dirty="0"/>
              <a:t> </a:t>
            </a:r>
            <a:r>
              <a:rPr dirty="0"/>
              <a:t>SIG,</a:t>
            </a:r>
            <a:r>
              <a:rPr spc="-60" dirty="0"/>
              <a:t> </a:t>
            </a:r>
            <a:r>
              <a:rPr dirty="0"/>
              <a:t>Bluetooth</a:t>
            </a:r>
            <a:r>
              <a:rPr spc="-60" dirty="0"/>
              <a:t> </a:t>
            </a:r>
            <a:r>
              <a:rPr dirty="0"/>
              <a:t>Core</a:t>
            </a:r>
            <a:r>
              <a:rPr spc="-60" dirty="0"/>
              <a:t> </a:t>
            </a:r>
            <a:r>
              <a:rPr spc="-10" dirty="0"/>
              <a:t>Specification.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3652" y="1943633"/>
            <a:ext cx="3863975" cy="1095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0" b="1" dirty="0">
                <a:latin typeface="Calibri"/>
                <a:cs typeface="Calibri"/>
              </a:rPr>
              <a:t>Thank</a:t>
            </a:r>
            <a:r>
              <a:rPr sz="7000" b="1" spc="-20" dirty="0">
                <a:latin typeface="Calibri"/>
                <a:cs typeface="Calibri"/>
              </a:rPr>
              <a:t> </a:t>
            </a:r>
            <a:r>
              <a:rPr sz="7000" b="1" spc="-25" dirty="0">
                <a:latin typeface="Calibri"/>
                <a:cs typeface="Calibri"/>
              </a:rPr>
              <a:t>you</a:t>
            </a:r>
            <a:endParaRPr sz="7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709</Words>
  <Application>Microsoft Office PowerPoint</Application>
  <PresentationFormat>On-screen Show (4:3)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MT</vt:lpstr>
      <vt:lpstr>Calibri</vt:lpstr>
      <vt:lpstr>Office Theme</vt:lpstr>
      <vt:lpstr>Pothole and Speed Breaker Detection and Alert System</vt:lpstr>
      <vt:lpstr>Table of Contents</vt:lpstr>
      <vt:lpstr>Abstract</vt:lpstr>
      <vt:lpstr>Existing System</vt:lpstr>
      <vt:lpstr>Disadvantages:</vt:lpstr>
      <vt:lpstr>Proposed System</vt:lpstr>
      <vt:lpstr>Advantages of Proposed System</vt:lpstr>
      <vt:lpstr>System Architecture</vt:lpstr>
      <vt:lpstr>Use Case Diagram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 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sathvika yalamanchi</cp:lastModifiedBy>
  <cp:revision>3</cp:revision>
  <dcterms:created xsi:type="dcterms:W3CDTF">2026-02-01T08:49:34Z</dcterms:created>
  <dcterms:modified xsi:type="dcterms:W3CDTF">2026-03-22T16:58:48Z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2026-02-01T00:00:00Z</vt:filetime>
  </property>
</Properties>
</file>